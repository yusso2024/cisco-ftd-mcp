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20640" y="1097280"/>
            <a:ext cx="1828800" cy="1828800"/>
          </a:xfrm>
          <a:prstGeom prst="ellipse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AA"/>
                </a:solidFill>
              </a:defRPr>
            </a:pPr>
            <a:r>
              <a:t>How AI Agents Talk to Your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Case Study: Cisco FTD Security Assessment MCP Server</a:t>
            </a:r>
          </a:p>
        </p:txBody>
      </p:sp>
      <p:sp>
        <p:nvSpPr>
          <p:cNvPr id="8" name="Oval 7"/>
          <p:cNvSpPr/>
          <p:nvPr/>
        </p:nvSpPr>
        <p:spPr>
          <a:xfrm>
            <a:off x="4114800" y="5852160"/>
            <a:ext cx="137160" cy="137160"/>
          </a:xfrm>
          <a:prstGeom prst="ellipse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77840" y="5852160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80" y="585216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is MCP?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9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</a:defRPr>
            </a:pPr>
            <a:r>
              <a:t>The Universal Adapter for AI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A0AEC0"/>
                </a:solidFill>
              </a:defRPr>
            </a:pPr>
            <a:r>
              <a:t>MCP is an open protocol that standardises how AI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A0AEC0"/>
                </a:solidFill>
              </a:defRPr>
            </a:pPr>
            <a:r>
              <a:t>applications connect to external data sources and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A0AEC0"/>
                </a:solidFill>
              </a:defRPr>
            </a:pPr>
            <a:r>
              <a:t>tools  --  like a USB-C port for AI integrations.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Before MCP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A0AEC0"/>
                </a:solidFill>
              </a:defRPr>
            </a:pPr>
            <a:r>
              <a:t>Every AI + tool combo needed custom glue code.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A0AEC0"/>
                </a:solidFill>
              </a:defRPr>
            </a:pPr>
            <a:r>
              <a:t>N tools x M AI apps = N x M integrations.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00D4AA"/>
                </a:solidFill>
              </a:defRPr>
            </a:pPr>
            <a:r>
              <a:t>After MCP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A0AEC0"/>
                </a:solidFill>
              </a:defRPr>
            </a:pPr>
            <a:r>
              <a:t>Build one MCP server per tool.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A0AEC0"/>
                </a:solidFill>
              </a:defRPr>
            </a:pPr>
            <a:r>
              <a:t>Every AI client speaks it. N + M. Done.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9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F7"/>
                </a:solidFill>
              </a:defRPr>
            </a:pPr>
            <a:r>
              <a:t>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Functions the AI can call (e.g. run_assessment)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39319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39" y="4160520"/>
            <a:ext cx="640080" cy="64008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399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</a:defRPr>
            </a:pPr>
            <a:r>
              <a:t>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Data the AI can read (e.g. config files, DB rows)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93192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0" y="416052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Prompts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029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Pre-built prompt templates for common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MCP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8503920" cy="9144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645920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AI Application (Host)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</a:defRPr>
            </a:pPr>
            <a:r>
              <a:t>Claude, OpenCode, Cursor, etc.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926080"/>
            <a:ext cx="8503920" cy="9144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9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2926080"/>
            <a:ext cx="109728" cy="914400"/>
          </a:xfrm>
          <a:prstGeom prst="rect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971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F7"/>
                </a:solidFill>
              </a:defRPr>
            </a:pPr>
            <a:r>
              <a:t>MCP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971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</a:defRPr>
            </a:pPr>
            <a:r>
              <a:t>Built into the host — speaks JSON-RPC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206240"/>
            <a:ext cx="8503920" cy="9144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4206240"/>
            <a:ext cx="109728" cy="914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251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</a:defRPr>
            </a:pPr>
            <a:r>
              <a:t>MCP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51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</a:defRPr>
            </a:pPr>
            <a:r>
              <a:t>Your code — exposes tools, resources, prompts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486400"/>
            <a:ext cx="8503920" cy="9144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5486400"/>
            <a:ext cx="109728" cy="9144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5532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Data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532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</a:defRPr>
            </a:pPr>
            <a:r>
              <a:t>APIs, databases, filesystems, devices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43600" y="2560320"/>
            <a:ext cx="320040" cy="365760"/>
          </a:xfrm>
          <a:prstGeom prst="downArrow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5943600" y="3840480"/>
            <a:ext cx="320040" cy="365760"/>
          </a:xfrm>
          <a:prstGeom prst="downArrow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943600" y="5120640"/>
            <a:ext cx="320040" cy="365760"/>
          </a:xfrm>
          <a:prstGeom prst="downArrow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828800"/>
            <a:ext cx="1371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055"/>
                </a:solidFill>
              </a:defRPr>
            </a:pPr>
            <a:r>
              <a:t>JSON-RPC</a:t>
            </a:r>
            <a:br/>
            <a:r>
              <a:t>over</a:t>
            </a:r>
            <a:br/>
            <a:r>
              <a:t>stdio</a:t>
            </a:r>
            <a:br/>
            <a:r>
              <a:t>or</a:t>
            </a:r>
            <a:br/>
            <a:r>
              <a:t>SSE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1645920"/>
            <a:ext cx="36576" cy="4754880"/>
          </a:xfrm>
          <a:prstGeom prst="rect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MCP Communication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200400" cy="45720"/>
          </a:xfrm>
          <a:prstGeom prst="rect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69164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Client asks server:</a:t>
            </a:r>
            <a:br/>
            <a:r>
              <a:t>"What tools do you have?"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69280" y="2011680"/>
            <a:ext cx="731520" cy="365760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554480"/>
            <a:ext cx="4846320" cy="13716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Server responds with</a:t>
            </a:r>
            <a:br/>
            <a:r>
              <a:t>tool list + schemas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428999"/>
            <a:ext cx="640080" cy="640080"/>
          </a:xfrm>
          <a:prstGeom prst="ellipse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291839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9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3832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7"/>
                </a:solidFill>
              </a:defRPr>
            </a:pPr>
            <a:r>
              <a:t>INVOKE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4903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AI decides to call a tool:</a:t>
            </a:r>
            <a:br/>
            <a:r>
              <a:t>{"method": "run_assessment"}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69280" y="3749039"/>
            <a:ext cx="731520" cy="365760"/>
          </a:xfrm>
          <a:prstGeom prst="rightArrow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3291839"/>
            <a:ext cx="4846320" cy="13716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9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566159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Server executes the</a:t>
            </a:r>
            <a:br/>
            <a:r>
              <a:t>function locally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166360"/>
            <a:ext cx="640080" cy="64008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029200"/>
            <a:ext cx="4114800" cy="13716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RESPOND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4864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Server returns results</a:t>
            </a:r>
            <a:br/>
            <a:r>
              <a:t>as structured JSON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669280" y="5486400"/>
            <a:ext cx="731520" cy="365760"/>
          </a:xfrm>
          <a:prstGeom prst="rightArrow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0" y="5029200"/>
            <a:ext cx="4846320" cy="13716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53035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AI interprets and</a:t>
            </a:r>
            <a:br/>
            <a:r>
              <a:t>explains to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822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EF7"/>
                </a:solidFill>
              </a:defRPr>
            </a:pPr>
            <a:r>
              <a:t>CLIENT (AI App)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822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</a:defRPr>
            </a:pPr>
            <a:r>
              <a:t>SERVER (Your Code)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OpenCode Uses 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opencode.json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</a:defRPr>
            </a:pPr>
            <a:r>
              <a:t>{</a:t>
            </a:r>
            <a:br/>
            <a:r>
              <a:t>  "mcp": {</a:t>
            </a:r>
            <a:br/>
            <a:r>
              <a:t>    "cisco-ftd": {</a:t>
            </a:r>
            <a:br/>
            <a:r>
              <a:t>      "type": "local",</a:t>
            </a:r>
            <a:br/>
            <a:r>
              <a:t>      "command": [</a:t>
            </a:r>
            <a:br/>
            <a:r>
              <a:t>        ".venv/bin/python3",</a:t>
            </a:r>
            <a:br/>
            <a:r>
              <a:t>        "server.py"</a:t>
            </a:r>
            <a:br/>
            <a:r>
              <a:t>      ]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8" name="Oval 7"/>
          <p:cNvSpPr/>
          <p:nvPr/>
        </p:nvSpPr>
        <p:spPr>
          <a:xfrm>
            <a:off x="6583680" y="15087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</a:defRPr>
            </a:pPr>
            <a:r>
              <a:t>OpenCode starts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7373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Reads opencode.json,</a:t>
            </a:r>
            <a:br/>
            <a:r>
              <a:t>finds MCP server entries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693408" y="2148840"/>
            <a:ext cx="274320" cy="411480"/>
          </a:xfrm>
          <a:prstGeom prst="downArrow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0" y="2834640"/>
            <a:ext cx="502920" cy="502920"/>
          </a:xfrm>
          <a:prstGeom prst="ellipse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EF7"/>
                </a:solidFill>
              </a:defRPr>
            </a:pPr>
            <a:r>
              <a:t>Spawns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0632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Runs: python3 server.py</a:t>
            </a:r>
            <a:br/>
            <a:r>
              <a:t>as a local subprocess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693408" y="3474720"/>
            <a:ext cx="274320" cy="411480"/>
          </a:xfrm>
          <a:prstGeom prst="downArrow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0" y="4160520"/>
            <a:ext cx="502920" cy="50292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</a:defRPr>
            </a:pPr>
            <a:r>
              <a:t>stdio pipe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3891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Sends JSON-RPC via stdin,</a:t>
            </a:r>
            <a:br/>
            <a:r>
              <a:t>reads responses from stdout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693408" y="4800600"/>
            <a:ext cx="274320" cy="411480"/>
          </a:xfrm>
          <a:prstGeom prst="downArrow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548640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</a:defRPr>
            </a:pPr>
            <a:r>
              <a:t>Tools 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7150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AI can now call any</a:t>
            </a:r>
            <a:br/>
            <a:r>
              <a:t>@mcp.tool() function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10698480" cy="210312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</a:defRPr>
            </a:pPr>
            <a:r>
              <a:t>Key Point: 100% 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No HTTP server started  --  MCP server runs as a subprocess, communicates over stdin/stdout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A0AEC0"/>
                </a:solidFill>
              </a:defRPr>
            </a:pPr>
            <a:r>
              <a:t>No ports opened  --  nothing is network-accessible, stays inside the Docker container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A0AEC0"/>
                </a:solidFill>
              </a:defRPr>
            </a:pPr>
            <a:r>
              <a:t>No cloud dependency  --  your FTD configs and credentials never leave the local machine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Case Study: Cisco FTD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200400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You (or AI)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46304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9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554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EF7"/>
                </a:solidFill>
              </a:defRPr>
            </a:pPr>
            <a:r>
              <a:t>OpenCode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46304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554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</a:defRPr>
            </a:pPr>
            <a:r>
              <a:t>MCP Server</a:t>
            </a:r>
            <a:br/>
            <a:r>
              <a:t>(server.py)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46304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554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</a:defRPr>
            </a:pPr>
            <a:r>
              <a:t>FMC REST API</a:t>
            </a:r>
            <a:br/>
            <a:r>
              <a:t>or Config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46304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5544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FTD</a:t>
            </a:r>
            <a:br/>
            <a:r>
              <a:t>Devices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920240" y="1828800"/>
            <a:ext cx="274320" cy="365760"/>
          </a:xfrm>
          <a:prstGeom prst="rightArrow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3657600" y="1828800"/>
            <a:ext cx="274320" cy="365760"/>
          </a:xfrm>
          <a:prstGeom prst="rightArrow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394960" y="1828800"/>
            <a:ext cx="274320" cy="365760"/>
          </a:xfrm>
          <a:prstGeom prst="rightArrow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132320" y="1828800"/>
            <a:ext cx="274320" cy="365760"/>
          </a:xfrm>
          <a:prstGeom prst="rightArrow">
            <a:avLst/>
          </a:prstGeom>
          <a:solidFill>
            <a:srgbClr val="33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3017520"/>
            <a:ext cx="3931920" cy="347472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FILE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300" b="0">
                <a:solidFill>
                  <a:srgbClr val="A0AEC0"/>
                </a:solidFill>
              </a:defRPr>
            </a:pPr>
            <a:r>
              <a:t>Parse show-run text config</a:t>
            </a:r>
          </a:p>
          <a:p>
            <a:pPr>
              <a:spcBef>
                <a:spcPts val="600"/>
              </a:spcBef>
              <a:defRPr sz="1300">
                <a:solidFill>
                  <a:srgbClr val="A0AEC0"/>
                </a:solidFill>
              </a:defRPr>
            </a:pPr>
            <a:r>
              <a:t>Extract: interfaces, ACLs, NAT,</a:t>
            </a:r>
          </a:p>
          <a:p>
            <a:pPr>
              <a:spcBef>
                <a:spcPts val="600"/>
              </a:spcBef>
              <a:defRPr sz="1300">
                <a:solidFill>
                  <a:srgbClr val="A0AEC0"/>
                </a:solidFill>
              </a:defRPr>
            </a:pPr>
            <a:r>
              <a:t>  VPN, logging, SNMP, NTP, mgmt</a:t>
            </a:r>
          </a:p>
          <a:p>
            <a:pPr>
              <a:spcBef>
                <a:spcPts val="600"/>
              </a:spcBef>
              <a:defRPr sz="1300">
                <a:solidFill>
                  <a:srgbClr val="A0AEC0"/>
                </a:solidFill>
              </a:defRPr>
            </a:pPr>
            <a:r>
              <a:t>Run 11 security check categories</a:t>
            </a:r>
          </a:p>
          <a:p>
            <a:pPr>
              <a:spcBef>
                <a:spcPts val="600"/>
              </a:spcBef>
              <a:defRPr sz="1300">
                <a:solidFill>
                  <a:srgbClr val="A0AEC0"/>
                </a:solidFill>
              </a:defRPr>
            </a:pPr>
            <a:r>
              <a:t>No network needed  --  fully offline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017520"/>
            <a:ext cx="3931920" cy="347472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LIVE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56616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300" b="0">
                <a:solidFill>
                  <a:srgbClr val="A0AEC0"/>
                </a:solidFill>
              </a:defRPr>
            </a:pPr>
            <a:r>
              <a:t>Connect to Cisco FMC via REST</a:t>
            </a:r>
          </a:p>
          <a:p>
            <a:pPr>
              <a:spcBef>
                <a:spcPts val="600"/>
              </a:spcBef>
              <a:defRPr sz="1300">
                <a:solidFill>
                  <a:srgbClr val="A0AEC0"/>
                </a:solidFill>
              </a:defRPr>
            </a:pPr>
            <a:r>
              <a:t>Token auth (Basic -&gt; X-auth header)</a:t>
            </a:r>
          </a:p>
          <a:p>
            <a:pPr>
              <a:spcBef>
                <a:spcPts val="600"/>
              </a:spcBef>
              <a:defRPr sz="1300">
                <a:solidFill>
                  <a:srgbClr val="A0AEC0"/>
                </a:solidFill>
              </a:defRPr>
            </a:pPr>
            <a:r>
              <a:t>Pull: devices, policies, rules, IPS</a:t>
            </a:r>
          </a:p>
          <a:p>
            <a:pPr>
              <a:spcBef>
                <a:spcPts val="600"/>
              </a:spcBef>
              <a:defRPr sz="1300">
                <a:solidFill>
                  <a:srgbClr val="A0AEC0"/>
                </a:solidFill>
              </a:defRPr>
            </a:pPr>
            <a:r>
              <a:t>Run assessment against live data</a:t>
            </a:r>
          </a:p>
          <a:p>
            <a:pPr>
              <a:spcBef>
                <a:spcPts val="600"/>
              </a:spcBef>
              <a:defRPr sz="1300">
                <a:solidFill>
                  <a:srgbClr val="A0AEC0"/>
                </a:solidFill>
              </a:defRPr>
            </a:pPr>
            <a:r>
              <a:t>Supports token refresh (30 min TTL)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3017520"/>
            <a:ext cx="3017520" cy="347472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17 MCP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5661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200" b="0">
                <a:solidFill>
                  <a:srgbClr val="A0AEC0"/>
                </a:solidFill>
              </a:defRPr>
            </a:pPr>
            <a:r>
              <a:t>connect_fmc</a:t>
            </a:r>
          </a:p>
          <a:p>
            <a:pPr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load_config_file</a:t>
            </a:r>
          </a:p>
          <a:p>
            <a:pPr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list_devices</a:t>
            </a:r>
          </a:p>
          <a:p>
            <a:pPr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list_interfaces</a:t>
            </a:r>
          </a:p>
          <a:p>
            <a:pPr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get_access_lists / rules</a:t>
            </a:r>
          </a:p>
          <a:p>
            <a:pPr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get_nat_rules</a:t>
            </a:r>
          </a:p>
          <a:p>
            <a:pPr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get_vpn_config</a:t>
            </a:r>
          </a:p>
          <a:p>
            <a:pPr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get_logging_config</a:t>
            </a:r>
          </a:p>
          <a:p>
            <a:pPr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get_snmp_config</a:t>
            </a:r>
          </a:p>
          <a:p>
            <a:pPr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get_management_access</a:t>
            </a:r>
          </a:p>
          <a:p>
            <a:pPr>
              <a:spcBef>
                <a:spcPts val="400"/>
              </a:spcBef>
              <a:defRPr sz="1200">
                <a:solidFill>
                  <a:srgbClr val="A0AEC0"/>
                </a:solidFill>
              </a:defRPr>
            </a:pPr>
            <a:r>
              <a:t>run_security_assessment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Security Assessment: What It Catches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474720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834640" cy="4572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HIGH  (10)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3911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Overly Permissive ACL  --  permit ip any any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49631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Telnet in ACL  --  permit tcp any any eq 23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95351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Internal Host NAT'd Out  --  DB server static NAT to outside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41071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Weak VPN Crypto  --  DES encryption, MD5 integrity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86791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Weak DH Group  --  Group 2 (1024-bit) factorable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32511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No Syslog Server  --  Logs lost on reboot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78231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Unrestricted SSH  --  0.0.0.0/0 on INSIDE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23951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66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Unrestricted ASDM  --  0.0.0.0/0 on INSIDE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569671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Default SNMP Strings  --  public / private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615391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080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Telnet Enabled  --  Cleartext credentials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371600"/>
            <a:ext cx="2834640" cy="45720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CC15"/>
                </a:solidFill>
              </a:defRPr>
            </a:pPr>
            <a:r>
              <a:t>MEDIUM  (6)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2039112"/>
            <a:ext cx="164592" cy="164592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Unrestricted ICMP  --  ICMP any any from outside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2496312"/>
            <a:ext cx="164592" cy="164592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All-Ports Object Access  --  DMZ web-&gt;DB on all ports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2953512"/>
            <a:ext cx="164592" cy="164592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Low Logging Level  --  errors only, misses warnings</a:t>
            </a:r>
          </a:p>
        </p:txBody>
      </p:sp>
      <p:sp>
        <p:nvSpPr>
          <p:cNvPr id="35" name="Oval 34"/>
          <p:cNvSpPr/>
          <p:nvPr/>
        </p:nvSpPr>
        <p:spPr>
          <a:xfrm>
            <a:off x="6583680" y="3410712"/>
            <a:ext cx="164592" cy="164592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3337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Unauthenticated NTP  --  Time-spoofing risk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3867912"/>
            <a:ext cx="164592" cy="164592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3794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No VPN Idle Timeout  --  Abandoned sessions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0" y="4325112"/>
            <a:ext cx="164592" cy="164592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4251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SNMPv2c Only  --  No auth/encryption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6400800"/>
            <a:ext cx="11612880" cy="32004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055"/>
                </a:solidFill>
              </a:defRPr>
            </a:pPr>
            <a:r>
              <a:t>All 16 checks derived from CIS Benchmarks, Cisco hardening guides, and NIST SP 800-41 firewall best practices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to Use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64592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python3 -m venv .venv &amp;&amp; .venv/bin/pip install -r requirements.txt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9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926080"/>
            <a:ext cx="594360" cy="594360"/>
          </a:xfrm>
          <a:prstGeom prst="ellipse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F7"/>
                </a:solidFill>
              </a:defRPr>
            </a:pPr>
            <a:r>
              <a:t>Configure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004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Add "cisco-ftd" entry to opencode.json pointing to server.py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206240"/>
            <a:ext cx="594360" cy="59436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</a:defRPr>
            </a:pPr>
            <a:r>
              <a:t>Restart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805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/restart in OpenCode to load the new MCP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19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1A233B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486399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949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60719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Tell the AI: "Load my FTD config and run a security assessment"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629400"/>
            <a:ext cx="10698480" cy="137160"/>
          </a:xfrm>
          <a:prstGeom prst="roundRect">
            <a:avLst>
              <a:gd name="adj" fmla="val 5000"/>
            </a:avLst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12080" y="914400"/>
            <a:ext cx="1645920" cy="1645920"/>
          </a:xfrm>
          <a:prstGeom prst="ellipse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730752"/>
            <a:ext cx="182880" cy="182880"/>
          </a:xfrm>
          <a:prstGeom prst="ellipse">
            <a:avLst/>
          </a:prstGeom>
          <a:solidFill>
            <a:srgbClr val="009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EF7"/>
                </a:solidFill>
              </a:defRPr>
            </a:pPr>
            <a:r>
              <a:t>MCP = standard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Build once, works with every AI client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3730752"/>
            <a:ext cx="182880" cy="18288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</a:defRPr>
            </a:pPr>
            <a:r>
              <a:t>stdio = secure by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No ports, no HTTP, no cloud  --  runs locally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5102352"/>
            <a:ext cx="182880" cy="182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</a:defRPr>
            </a:pPr>
            <a:r>
              <a:t>Tools = decorated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5394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@mcp.tool() turns any Python function into an AI-callable tool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5102352"/>
            <a:ext cx="182880" cy="1828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</a:defRPr>
            </a:pPr>
            <a:r>
              <a:t>Dual mode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394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Same server handles live API and offline config parsing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